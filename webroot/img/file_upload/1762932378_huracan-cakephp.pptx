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7556500" cy="10693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822C51-BFE9-49CE-996C-74A5988DEF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C8D22E-773A-4DD5-AB0A-1574086A08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18180A-7C41-42FC-ACB3-9A536DAF43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C5BCDF-F191-4901-98DB-F54B82DCC9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A6B113-6ED0-45C6-BCCE-E5357A5113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77640" y="426600"/>
            <a:ext cx="6800400" cy="82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ED30E7-AC1D-48DB-B1E0-8D2F7DCC2D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776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2DC3A7-DDDA-47DA-B97E-A8B4B74A08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8624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560086-3358-4175-8064-32F42F2473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77640" y="5741640"/>
            <a:ext cx="68004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4D90E7-3874-4ED7-A977-740B3828BA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68004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77640" y="5741640"/>
            <a:ext cx="68004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39FB24-C919-46CA-92F2-AF93E04FED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776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8624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8CDE2A-571A-4E12-B823-FDA2936002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676960" y="250200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976280" y="250200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77640" y="574164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676960" y="574164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976280" y="574164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CBD41B-6547-459F-8523-3ECE487DED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7F6FA5-B8D6-4643-B5D3-B503925564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14D6E8-9723-465E-97B0-109189956B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E1EE78-33FA-4C47-8CB1-90CBD0701B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6BB1DE-C164-4F6D-BD9E-40A6FAFCEC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2F2EAF-9566-4DDE-9402-DBD6C7808F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77640" y="426600"/>
            <a:ext cx="6800400" cy="82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195826-8215-40D2-90E3-1FA835ECF9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3776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3296AE-C2BA-4F84-ACF6-6B623FD324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38624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6666BF-3C6F-4E8F-92E9-31FB6F2333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377640" y="5741640"/>
            <a:ext cx="68004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18F507-E7DF-4130-890B-2DFF20ED58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68004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377640" y="5741640"/>
            <a:ext cx="68004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945EBA-561C-47C2-9631-EED1DD3D06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3862440" y="250200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3776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3862440" y="5741640"/>
            <a:ext cx="33184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CD59BE-1F9A-4796-A422-0DF3725100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1800" spc="-1" strike="noStrike"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77640" y="250200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2676960" y="250200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976280" y="250200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377640" y="574164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2676960" y="574164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4976280" y="5741640"/>
            <a:ext cx="21895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D1256D-C606-4664-9BB3-116E842D76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960280" y="688680"/>
            <a:ext cx="1655640" cy="4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600" spc="-1" strike="noStrike">
                <a:latin typeface="Calibri"/>
              </a:rPr>
              <a:t>Click to edit the title text format</a:t>
            </a:r>
            <a:endParaRPr b="0" lang="en-IN" sz="2600" spc="-1" strike="noStrike"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8000" y="2459520"/>
            <a:ext cx="6806160" cy="705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Click to edit the outline text format</a:t>
            </a:r>
            <a:endParaRPr b="0" lang="en-IN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Second Outline Level</a:t>
            </a:r>
            <a:endParaRPr b="0" lang="en-IN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Third Outline Level</a:t>
            </a:r>
            <a:endParaRPr b="0" lang="en-IN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Fourth Outline Level</a:t>
            </a:r>
            <a:endParaRPr b="0" lang="en-IN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Fifth Outline Level</a:t>
            </a:r>
            <a:endParaRPr b="0" lang="en-IN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Sixth Outline Level</a:t>
            </a:r>
            <a:endParaRPr b="0" lang="en-IN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Seventh Outline Level</a:t>
            </a:r>
            <a:endParaRPr b="0" lang="en-IN" sz="1800" spc="-1" strike="noStrike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2571480" y="9945000"/>
            <a:ext cx="241992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378000" y="9945000"/>
            <a:ext cx="173916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5445360" y="9945000"/>
            <a:ext cx="173916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D6D5E2-0E9B-4071-96D2-68B3C418145B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2571480" y="9945000"/>
            <a:ext cx="241992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5"/>
          </p:nvPr>
        </p:nvSpPr>
        <p:spPr>
          <a:xfrm>
            <a:off x="378000" y="9945000"/>
            <a:ext cx="173916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6"/>
          </p:nvPr>
        </p:nvSpPr>
        <p:spPr>
          <a:xfrm>
            <a:off x="5445360" y="9945000"/>
            <a:ext cx="173916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2EB74D-6FA1-4F78-A97D-C88C33F85DD7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80040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1800" spc="-1" strike="noStrike">
                <a:latin typeface="Calibri"/>
              </a:rPr>
              <a:t>Click to edit </a:t>
            </a:r>
            <a:r>
              <a:rPr b="0" lang="en-IN" sz="1800" spc="-1" strike="noStrike">
                <a:latin typeface="Calibri"/>
              </a:rPr>
              <a:t>the title text </a:t>
            </a:r>
            <a:r>
              <a:rPr b="0" lang="en-IN" sz="1800" spc="-1" strike="noStrike">
                <a:latin typeface="Calibri"/>
              </a:rPr>
              <a:t>format</a:t>
            </a:r>
            <a:endParaRPr b="0" lang="en-IN" sz="1800" spc="-1" strike="noStrike"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80040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Click to edit the outline text format</a:t>
            </a:r>
            <a:endParaRPr b="0" lang="en-IN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Second Outline Level</a:t>
            </a:r>
            <a:endParaRPr b="0" lang="en-IN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Calibri"/>
              </a:rPr>
              <a:t>Third Outline Level</a:t>
            </a:r>
            <a:endParaRPr b="0" lang="en-IN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Calibri"/>
              </a:rPr>
              <a:t>Fourth Outline Level</a:t>
            </a:r>
            <a:endParaRPr b="0" lang="en-IN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Fifth Outline Level</a:t>
            </a:r>
            <a:endParaRPr b="0" lang="en-IN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Sixth Outline Level</a:t>
            </a:r>
            <a:endParaRPr b="0" lang="en-IN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Calibri"/>
              </a:rPr>
              <a:t>Seventh Outline Level</a:t>
            </a:r>
            <a:endParaRPr b="0" lang="en-IN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960280" y="688680"/>
            <a:ext cx="1655640" cy="1797120"/>
          </a:xfrm>
          <a:prstGeom prst="rect">
            <a:avLst/>
          </a:prstGeom>
          <a:noFill/>
          <a:ln w="0">
            <a:noFill/>
          </a:ln>
        </p:spPr>
        <p:txBody>
          <a:bodyPr lIns="0" rIns="0" tIns="11520" bIns="0" anchor="t">
            <a:noAutofit/>
          </a:bodyPr>
          <a:p>
            <a:pPr marL="12600">
              <a:lnSpc>
                <a:spcPct val="100000"/>
              </a:lnSpc>
              <a:spcBef>
                <a:spcPts val="91"/>
              </a:spcBef>
              <a:buNone/>
            </a:pPr>
            <a:r>
              <a:rPr b="0" lang="en-IN" sz="2600" spc="-12" strike="noStrike">
                <a:solidFill>
                  <a:srgbClr val="000000"/>
                </a:solidFill>
                <a:latin typeface="Arial MT"/>
              </a:rPr>
              <a:t>HURAC</a:t>
            </a:r>
            <a:r>
              <a:rPr b="0" lang="en-IN" sz="2600" spc="-12" strike="noStrike">
                <a:solidFill>
                  <a:srgbClr val="000000"/>
                </a:solidFill>
                <a:latin typeface="Arial MT"/>
              </a:rPr>
              <a:t>AN</a:t>
            </a:r>
            <a:endParaRPr b="0" lang="en-IN" sz="2600" spc="-1" strike="noStrike">
              <a:latin typeface="Calibri"/>
            </a:endParaRPr>
          </a:p>
        </p:txBody>
      </p:sp>
      <p:sp>
        <p:nvSpPr>
          <p:cNvPr id="83" name="object 3"/>
          <p:cNvSpPr/>
          <p:nvPr/>
        </p:nvSpPr>
        <p:spPr>
          <a:xfrm>
            <a:off x="701280" y="6890400"/>
            <a:ext cx="6159240" cy="9000"/>
          </a:xfrm>
          <a:custGeom>
            <a:avLst/>
            <a:gdLst/>
            <a:ahLst/>
            <a:rect l="l" t="t" r="r" b="b"/>
            <a:pathLst>
              <a:path w="6159500" h="9525">
                <a:moveTo>
                  <a:pt x="6159373" y="6096"/>
                </a:moveTo>
                <a:lnTo>
                  <a:pt x="0" y="6096"/>
                </a:lnTo>
                <a:lnTo>
                  <a:pt x="0" y="9131"/>
                </a:lnTo>
                <a:lnTo>
                  <a:pt x="6159373" y="9131"/>
                </a:lnTo>
                <a:lnTo>
                  <a:pt x="6159373" y="6096"/>
                </a:lnTo>
                <a:close/>
              </a:path>
              <a:path w="6159500" h="9525">
                <a:moveTo>
                  <a:pt x="6159373" y="0"/>
                </a:moveTo>
                <a:lnTo>
                  <a:pt x="0" y="0"/>
                </a:lnTo>
                <a:lnTo>
                  <a:pt x="0" y="3035"/>
                </a:lnTo>
                <a:lnTo>
                  <a:pt x="6159373" y="3035"/>
                </a:lnTo>
                <a:lnTo>
                  <a:pt x="6159373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object 4"/>
          <p:cNvSpPr/>
          <p:nvPr/>
        </p:nvSpPr>
        <p:spPr>
          <a:xfrm>
            <a:off x="707040" y="1075680"/>
            <a:ext cx="5758920" cy="882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1200" spc="-1" strike="noStrike">
                <a:latin typeface="Arial MT"/>
              </a:rPr>
              <a:t>CakePHP</a:t>
            </a:r>
            <a:r>
              <a:rPr b="0" lang="en-IN" sz="1200" spc="-55" strike="noStrike">
                <a:latin typeface="Arial MT"/>
              </a:rPr>
              <a:t> </a:t>
            </a:r>
            <a:r>
              <a:rPr b="0" lang="en-IN" sz="1200" spc="-12" strike="noStrike">
                <a:latin typeface="Arial MT"/>
              </a:rPr>
              <a:t>versions:-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50"/>
              </a:spcBef>
              <a:buNone/>
            </a:pPr>
            <a:endParaRPr b="0" lang="en-IN" sz="1200" spc="-1" strike="noStrike">
              <a:latin typeface="Arial"/>
            </a:endParaRPr>
          </a:p>
          <a:p>
            <a:pPr marL="167760" indent="-15480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  <a:tabLst>
                <a:tab algn="l" pos="167760"/>
              </a:tabLst>
            </a:pPr>
            <a:r>
              <a:rPr b="1" lang="en-IN" sz="1200" spc="-21" strike="noStrike">
                <a:latin typeface="Times New Roman"/>
              </a:rPr>
              <a:t>CakePHP </a:t>
            </a:r>
            <a:r>
              <a:rPr b="1" lang="en-IN" sz="1200" spc="-26" strike="noStrike">
                <a:latin typeface="Times New Roman"/>
              </a:rPr>
              <a:t>2.x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05"/>
              </a:spcBef>
              <a:buNone/>
              <a:tabLst>
                <a:tab algn="l" pos="167760"/>
              </a:tabLst>
            </a:pPr>
            <a:r>
              <a:rPr b="1" lang="en-IN" sz="1200" spc="-1" strike="noStrike">
                <a:latin typeface="Times New Roman"/>
              </a:rPr>
              <a:t>Released:</a:t>
            </a:r>
            <a:r>
              <a:rPr b="1" lang="en-IN" sz="1200" spc="-55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2011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5"/>
              </a:spcBef>
              <a:buNone/>
              <a:tabLst>
                <a:tab algn="l" pos="167760"/>
              </a:tabLst>
            </a:pPr>
            <a:r>
              <a:rPr b="1" lang="en-IN" sz="1200" spc="-1" strike="noStrike">
                <a:latin typeface="Times New Roman"/>
              </a:rPr>
              <a:t>End</a:t>
            </a:r>
            <a:r>
              <a:rPr b="1" lang="en-IN" sz="1200" spc="-12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of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official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support:</a:t>
            </a:r>
            <a:r>
              <a:rPr b="1" lang="en-IN" sz="1200" spc="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2015</a:t>
            </a:r>
            <a:r>
              <a:rPr b="0" lang="en-IN" sz="1200" spc="-12" strike="noStrike">
                <a:latin typeface="Times New Roman"/>
              </a:rPr>
              <a:t> (security</a:t>
            </a:r>
            <a:r>
              <a:rPr b="0" lang="en-IN" sz="1200" spc="-5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updates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till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2016)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6"/>
              </a:spcBef>
              <a:buNone/>
              <a:tabLst>
                <a:tab algn="l" pos="167760"/>
              </a:tabLst>
            </a:pPr>
            <a:r>
              <a:rPr b="1" lang="en-IN" sz="1400" spc="-1" strike="noStrike">
                <a:latin typeface="Times New Roman"/>
              </a:rPr>
              <a:t>Key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Features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&amp;</a:t>
            </a:r>
            <a:r>
              <a:rPr b="1" lang="en-IN" sz="1400" spc="-41" strike="noStrike">
                <a:latin typeface="Times New Roman"/>
              </a:rPr>
              <a:t> </a:t>
            </a:r>
            <a:r>
              <a:rPr b="1" lang="en-IN" sz="1400" spc="-12" strike="noStrike">
                <a:latin typeface="Times New Roman"/>
              </a:rPr>
              <a:t>Characteristics</a:t>
            </a:r>
            <a:endParaRPr b="0" lang="en-IN" sz="14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609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Built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on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5.x.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Heavy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reliance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on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convention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over</a:t>
            </a:r>
            <a:r>
              <a:rPr b="1" lang="en-IN" sz="1200" spc="-72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configuration</a:t>
            </a:r>
            <a:r>
              <a:rPr b="0" lang="en-IN" sz="1200" spc="-12" strike="noStrike">
                <a:latin typeface="Times New Roman"/>
              </a:rPr>
              <a:t>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Uses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1" lang="en-IN" sz="1200" spc="-21" strike="noStrike">
                <a:latin typeface="Times New Roman"/>
              </a:rPr>
              <a:t>AppController,</a:t>
            </a:r>
            <a:r>
              <a:rPr b="1" lang="en-IN" sz="1200" spc="-46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AppModel,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AppHelper</a:t>
            </a:r>
            <a:r>
              <a:rPr b="1" lang="en-IN" sz="1200" spc="-1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conventions.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MVC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structure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enforced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but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somewhat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rigid.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ORM:</a:t>
            </a:r>
            <a:r>
              <a:rPr b="1" lang="en-IN" sz="1200" spc="-72" strike="noStrike">
                <a:latin typeface="Times New Roman"/>
              </a:rPr>
              <a:t> </a:t>
            </a:r>
            <a:r>
              <a:rPr b="0" lang="en-IN" sz="1200" spc="-41" strike="noStrike">
                <a:latin typeface="Times New Roman"/>
              </a:rPr>
              <a:t>Very </a:t>
            </a:r>
            <a:r>
              <a:rPr b="0" lang="en-IN" sz="1200" spc="-1" strike="noStrike">
                <a:latin typeface="Times New Roman"/>
              </a:rPr>
              <a:t>basic,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limited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for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complex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queries.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Forms</a:t>
            </a:r>
            <a:r>
              <a:rPr b="1" lang="en-IN" sz="1200" spc="-32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&amp;</a:t>
            </a:r>
            <a:r>
              <a:rPr b="1" lang="en-IN" sz="1200" spc="-32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Validation:</a:t>
            </a:r>
            <a:r>
              <a:rPr b="1" lang="en-IN" sz="1200" spc="-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Basic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form</a:t>
            </a:r>
            <a:r>
              <a:rPr b="0" lang="en-IN" sz="1200" spc="-5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validation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helpers.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Routing: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Simple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routing,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less</a:t>
            </a:r>
            <a:r>
              <a:rPr b="0" lang="en-IN" sz="1200" spc="-12" strike="noStrike">
                <a:latin typeface="Times New Roman"/>
              </a:rPr>
              <a:t> flexible.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Testing:</a:t>
            </a:r>
            <a:r>
              <a:rPr b="1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Limited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support,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mainly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via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SimpleTest.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16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Backward</a:t>
            </a:r>
            <a:r>
              <a:rPr b="1" lang="en-IN" sz="1200" spc="-32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compatibility: </a:t>
            </a:r>
            <a:r>
              <a:rPr b="0" lang="en-IN" sz="1200" spc="-41" strike="noStrike">
                <a:latin typeface="Times New Roman"/>
              </a:rPr>
              <a:t>Very </a:t>
            </a:r>
            <a:r>
              <a:rPr b="0" lang="en-IN" sz="1200" spc="-1" strike="noStrike">
                <a:latin typeface="Times New Roman"/>
              </a:rPr>
              <a:t>stable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but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older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version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constraints.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6"/>
              </a:spcBef>
              <a:buNone/>
              <a:tabLst>
                <a:tab algn="l" pos="462960"/>
              </a:tabLst>
            </a:pPr>
            <a:r>
              <a:rPr b="1" lang="en-IN" sz="1400" spc="-12" strike="noStrike">
                <a:latin typeface="Times New Roman"/>
              </a:rPr>
              <a:t>Drawbacks</a:t>
            </a:r>
            <a:endParaRPr b="0" lang="en-IN" sz="14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604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Not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fully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PSR-</a:t>
            </a:r>
            <a:r>
              <a:rPr b="0" lang="en-IN" sz="1200" spc="-12" strike="noStrike">
                <a:latin typeface="Times New Roman"/>
              </a:rPr>
              <a:t>compliant.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No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namespacing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(uses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class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prefixes</a:t>
            </a:r>
            <a:r>
              <a:rPr b="0" lang="en-IN" sz="1200" spc="-12" strike="noStrike">
                <a:latin typeface="Times New Roman"/>
              </a:rPr>
              <a:t> instead).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Hard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to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extend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or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integrate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libraries.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Limited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performance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caching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features.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46296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69"/>
              </a:spcBef>
              <a:buNone/>
              <a:tabLst>
                <a:tab algn="l" pos="462960"/>
              </a:tabLst>
            </a:pPr>
            <a:endParaRPr b="0" lang="en-IN" sz="1200" spc="-1" strike="noStrike">
              <a:latin typeface="Arial"/>
            </a:endParaRPr>
          </a:p>
          <a:p>
            <a:pPr marL="243360" indent="-23040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 startAt="2"/>
              <a:tabLst>
                <a:tab algn="l" pos="243360"/>
              </a:tabLst>
            </a:pPr>
            <a:r>
              <a:rPr b="1" lang="en-IN" sz="1800" spc="-21" strike="noStrike">
                <a:latin typeface="Times New Roman"/>
              </a:rPr>
              <a:t>CakePHP</a:t>
            </a:r>
            <a:r>
              <a:rPr b="1" lang="en-IN" sz="1800" spc="-52" strike="noStrike">
                <a:latin typeface="Times New Roman"/>
              </a:rPr>
              <a:t> </a:t>
            </a:r>
            <a:r>
              <a:rPr b="1" lang="en-IN" sz="1800" spc="-26" strike="noStrike">
                <a:latin typeface="Times New Roman"/>
              </a:rPr>
              <a:t>3.x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05"/>
              </a:spcBef>
              <a:buNone/>
              <a:tabLst>
                <a:tab algn="l" pos="243360"/>
              </a:tabLst>
            </a:pPr>
            <a:r>
              <a:rPr b="1" lang="en-IN" sz="1200" spc="-1" strike="noStrike">
                <a:latin typeface="Times New Roman"/>
              </a:rPr>
              <a:t>Released:</a:t>
            </a:r>
            <a:r>
              <a:rPr b="1" lang="en-IN" sz="1200" spc="-55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2015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9"/>
              </a:spcBef>
              <a:buNone/>
              <a:tabLst>
                <a:tab algn="l" pos="243360"/>
              </a:tabLst>
            </a:pPr>
            <a:r>
              <a:rPr b="1" lang="en-IN" sz="1200" spc="-1" strike="noStrike">
                <a:latin typeface="Times New Roman"/>
              </a:rPr>
              <a:t>End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of</a:t>
            </a:r>
            <a:r>
              <a:rPr b="1" lang="en-IN" sz="1200" spc="-4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official</a:t>
            </a:r>
            <a:r>
              <a:rPr b="1" lang="en-IN" sz="1200" spc="-52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support: </a:t>
            </a:r>
            <a:r>
              <a:rPr b="0" lang="en-IN" sz="1200" spc="-21" strike="noStrike">
                <a:latin typeface="Times New Roman"/>
              </a:rPr>
              <a:t>2019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9"/>
              </a:spcBef>
              <a:buNone/>
              <a:tabLst>
                <a:tab algn="l" pos="243360"/>
              </a:tabLst>
            </a:pPr>
            <a:r>
              <a:rPr b="1" lang="en-IN" sz="1400" spc="-1" strike="noStrike">
                <a:latin typeface="Times New Roman"/>
              </a:rPr>
              <a:t>Key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Features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&amp;</a:t>
            </a:r>
            <a:r>
              <a:rPr b="1" lang="en-IN" sz="1400" spc="-41" strike="noStrike">
                <a:latin typeface="Times New Roman"/>
              </a:rPr>
              <a:t> </a:t>
            </a:r>
            <a:r>
              <a:rPr b="1" lang="en-IN" sz="1400" spc="-12" strike="noStrike">
                <a:latin typeface="Times New Roman"/>
              </a:rPr>
              <a:t>Improvements</a:t>
            </a:r>
            <a:endParaRPr b="0" lang="en-IN" sz="14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609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21" strike="noStrike">
                <a:latin typeface="Times New Roman"/>
              </a:rPr>
              <a:t>PHP</a:t>
            </a:r>
            <a:r>
              <a:rPr b="1" lang="en-IN" sz="1200" spc="-7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5.4+</a:t>
            </a:r>
            <a:r>
              <a:rPr b="1" lang="en-IN" sz="1200" spc="-32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required</a:t>
            </a:r>
            <a:r>
              <a:rPr b="0" lang="en-IN" sz="1200" spc="-12" strike="noStrike">
                <a:latin typeface="Times New Roman"/>
              </a:rPr>
              <a:t>,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optional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7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in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later 3.x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versions.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8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Introduced </a:t>
            </a:r>
            <a:r>
              <a:rPr b="1" lang="en-IN" sz="1200" spc="-12" strike="noStrike">
                <a:latin typeface="Times New Roman"/>
              </a:rPr>
              <a:t>namespaces</a:t>
            </a:r>
            <a:r>
              <a:rPr b="1" lang="en-IN" sz="1200" spc="-7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(</a:t>
            </a:r>
            <a:r>
              <a:rPr b="0" lang="en-IN" sz="1200" spc="-12" strike="noStrike">
                <a:latin typeface="Courier New"/>
              </a:rPr>
              <a:t>App\Controller</a:t>
            </a:r>
            <a:r>
              <a:rPr b="0" lang="en-IN" sz="1200" spc="-12" strike="noStrike">
                <a:latin typeface="Times New Roman"/>
              </a:rPr>
              <a:t>,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2" strike="noStrike">
                <a:latin typeface="Courier New"/>
              </a:rPr>
              <a:t>App\Model\Table</a:t>
            </a:r>
            <a:r>
              <a:rPr b="0" lang="en-IN" sz="1200" spc="-12" strike="noStrike">
                <a:latin typeface="Times New Roman"/>
              </a:rPr>
              <a:t>).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84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ORM: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Completely</a:t>
            </a:r>
            <a:r>
              <a:rPr b="0" lang="en-IN" sz="1200" spc="-5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rewritten;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supports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associations,</a:t>
            </a:r>
            <a:r>
              <a:rPr b="0" lang="en-IN" sz="1200" spc="-1" strike="noStrike">
                <a:latin typeface="Times New Roman"/>
              </a:rPr>
              <a:t> custom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finders, and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query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builder.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Middleware</a:t>
            </a:r>
            <a:r>
              <a:rPr b="1" lang="en-IN" sz="1200" spc="-7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layer:</a:t>
            </a:r>
            <a:r>
              <a:rPr b="1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Allows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hooking into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requests/responses.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Dependency</a:t>
            </a:r>
            <a:r>
              <a:rPr b="1" lang="en-IN" sz="1200" spc="-32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Injection:</a:t>
            </a:r>
            <a:r>
              <a:rPr b="1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More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flexible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via</a:t>
            </a:r>
            <a:r>
              <a:rPr b="0" lang="en-IN" sz="1200" spc="-5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TableLocator,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ComponentRegistry.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Conventions</a:t>
            </a:r>
            <a:r>
              <a:rPr b="1" lang="en-IN" sz="1200" spc="-5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over</a:t>
            </a:r>
            <a:r>
              <a:rPr b="1" lang="en-IN" sz="1200" spc="-7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configuration: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Enhanced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but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more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flexible.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701280" y="2896560"/>
            <a:ext cx="6159240" cy="9000"/>
          </a:xfrm>
          <a:custGeom>
            <a:avLst/>
            <a:gdLst/>
            <a:ahLst/>
            <a:rect l="l" t="t" r="r" b="b"/>
            <a:pathLst>
              <a:path w="6159500" h="9525">
                <a:moveTo>
                  <a:pt x="6159373" y="6083"/>
                </a:moveTo>
                <a:lnTo>
                  <a:pt x="0" y="6083"/>
                </a:lnTo>
                <a:lnTo>
                  <a:pt x="0" y="9131"/>
                </a:lnTo>
                <a:lnTo>
                  <a:pt x="6159373" y="9131"/>
                </a:lnTo>
                <a:lnTo>
                  <a:pt x="6159373" y="6083"/>
                </a:lnTo>
                <a:close/>
              </a:path>
              <a:path w="6159500" h="9525">
                <a:moveTo>
                  <a:pt x="6159373" y="0"/>
                </a:moveTo>
                <a:lnTo>
                  <a:pt x="0" y="0"/>
                </a:lnTo>
                <a:lnTo>
                  <a:pt x="0" y="3035"/>
                </a:lnTo>
                <a:lnTo>
                  <a:pt x="6159373" y="3035"/>
                </a:lnTo>
                <a:lnTo>
                  <a:pt x="6159373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object 3"/>
          <p:cNvSpPr/>
          <p:nvPr/>
        </p:nvSpPr>
        <p:spPr>
          <a:xfrm>
            <a:off x="701280" y="8814240"/>
            <a:ext cx="6159240" cy="9000"/>
          </a:xfrm>
          <a:custGeom>
            <a:avLst/>
            <a:gdLst/>
            <a:ahLst/>
            <a:rect l="l" t="t" r="r" b="b"/>
            <a:pathLst>
              <a:path w="6159500" h="9525">
                <a:moveTo>
                  <a:pt x="6159373" y="6108"/>
                </a:moveTo>
                <a:lnTo>
                  <a:pt x="0" y="6108"/>
                </a:lnTo>
                <a:lnTo>
                  <a:pt x="0" y="9144"/>
                </a:lnTo>
                <a:lnTo>
                  <a:pt x="6159373" y="9144"/>
                </a:lnTo>
                <a:lnTo>
                  <a:pt x="6159373" y="6108"/>
                </a:lnTo>
                <a:close/>
              </a:path>
              <a:path w="6159500" h="9525">
                <a:moveTo>
                  <a:pt x="6159373" y="0"/>
                </a:moveTo>
                <a:lnTo>
                  <a:pt x="0" y="0"/>
                </a:lnTo>
                <a:lnTo>
                  <a:pt x="0" y="3048"/>
                </a:lnTo>
                <a:lnTo>
                  <a:pt x="6159373" y="3048"/>
                </a:lnTo>
                <a:lnTo>
                  <a:pt x="6159373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object 4"/>
          <p:cNvSpPr/>
          <p:nvPr/>
        </p:nvSpPr>
        <p:spPr>
          <a:xfrm>
            <a:off x="707040" y="703800"/>
            <a:ext cx="5986440" cy="88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62960" indent="-1789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Routing: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Fully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customizable,</a:t>
            </a:r>
            <a:r>
              <a:rPr b="0" lang="en-IN" sz="1200" spc="-1" strike="noStrike">
                <a:latin typeface="Times New Roman"/>
              </a:rPr>
              <a:t> supports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route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scopes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middleware.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Bake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tool: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Code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generation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improved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for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controllers,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models,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templates.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Testing: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PHPUnit integrated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by</a:t>
            </a:r>
            <a:r>
              <a:rPr b="0" lang="en-IN" sz="1200" spc="-7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default.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Plugins:</a:t>
            </a:r>
            <a:r>
              <a:rPr b="1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More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PSR-4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compatible.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6"/>
              </a:spcBef>
              <a:buNone/>
              <a:tabLst>
                <a:tab algn="l" pos="462960"/>
              </a:tabLst>
            </a:pPr>
            <a:r>
              <a:rPr b="1" lang="en-IN" sz="1400" spc="-12" strike="noStrike">
                <a:latin typeface="Times New Roman"/>
              </a:rPr>
              <a:t>Drawbacks</a:t>
            </a:r>
            <a:endParaRPr b="0" lang="en-IN" sz="14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609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Upgrade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from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2.x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is</a:t>
            </a:r>
            <a:r>
              <a:rPr b="0" lang="en-IN" sz="1200" spc="-12" strike="noStrike">
                <a:latin typeface="Times New Roman"/>
              </a:rPr>
              <a:t> non-trivial.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Steeper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learning </a:t>
            </a:r>
            <a:r>
              <a:rPr b="0" lang="en-IN" sz="1200" spc="-1" strike="noStrike">
                <a:latin typeface="Times New Roman"/>
              </a:rPr>
              <a:t>curve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due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to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new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ORM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middleware.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46296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41"/>
              </a:spcBef>
              <a:buNone/>
              <a:tabLst>
                <a:tab algn="l" pos="462960"/>
              </a:tabLst>
            </a:pPr>
            <a:endParaRPr b="0" lang="en-IN" sz="1200" spc="-1" strike="noStrike">
              <a:latin typeface="Arial"/>
            </a:endParaRPr>
          </a:p>
          <a:p>
            <a:pPr marL="243360" indent="-23040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 startAt="3"/>
              <a:tabLst>
                <a:tab algn="l" pos="243360"/>
              </a:tabLst>
            </a:pPr>
            <a:r>
              <a:rPr b="1" lang="en-IN" sz="1800" spc="-21" strike="noStrike">
                <a:latin typeface="Times New Roman"/>
              </a:rPr>
              <a:t>CakePHP</a:t>
            </a:r>
            <a:r>
              <a:rPr b="1" lang="en-IN" sz="1800" spc="-52" strike="noStrike">
                <a:latin typeface="Times New Roman"/>
              </a:rPr>
              <a:t> </a:t>
            </a:r>
            <a:r>
              <a:rPr b="1" lang="en-IN" sz="1800" spc="-26" strike="noStrike">
                <a:latin typeface="Times New Roman"/>
              </a:rPr>
              <a:t>4.x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30"/>
              </a:spcBef>
              <a:buNone/>
              <a:tabLst>
                <a:tab algn="l" pos="243360"/>
              </a:tabLst>
            </a:pPr>
            <a:r>
              <a:rPr b="1" lang="en-IN" sz="1200" spc="-1" strike="noStrike">
                <a:latin typeface="Times New Roman"/>
              </a:rPr>
              <a:t>Released:</a:t>
            </a:r>
            <a:r>
              <a:rPr b="1" lang="en-IN" sz="1200" spc="-55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2019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9"/>
              </a:spcBef>
              <a:buNone/>
              <a:tabLst>
                <a:tab algn="l" pos="243360"/>
              </a:tabLst>
            </a:pPr>
            <a:r>
              <a:rPr b="1" lang="en-IN" sz="1400" spc="-1" strike="noStrike">
                <a:latin typeface="Times New Roman"/>
              </a:rPr>
              <a:t>Key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Features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&amp;</a:t>
            </a:r>
            <a:r>
              <a:rPr b="1" lang="en-IN" sz="1400" spc="-41" strike="noStrike">
                <a:latin typeface="Times New Roman"/>
              </a:rPr>
              <a:t> </a:t>
            </a:r>
            <a:r>
              <a:rPr b="1" lang="en-IN" sz="1400" spc="-12" strike="noStrike">
                <a:latin typeface="Times New Roman"/>
              </a:rPr>
              <a:t>Improvements</a:t>
            </a:r>
            <a:endParaRPr b="0" lang="en-IN" sz="14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604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Requires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1" lang="en-IN" sz="1200" spc="-21" strike="noStrike">
                <a:latin typeface="Times New Roman"/>
              </a:rPr>
              <a:t>PHP</a:t>
            </a:r>
            <a:r>
              <a:rPr b="1" lang="en-IN" sz="1200" spc="-75" strike="noStrike">
                <a:latin typeface="Times New Roman"/>
              </a:rPr>
              <a:t> </a:t>
            </a:r>
            <a:r>
              <a:rPr b="1" lang="en-IN" sz="1200" spc="-21" strike="noStrike">
                <a:latin typeface="Times New Roman"/>
              </a:rPr>
              <a:t>7.2+</a:t>
            </a:r>
            <a:r>
              <a:rPr b="0" lang="en-IN" sz="1200" spc="-21" strike="noStrike">
                <a:latin typeface="Times New Roman"/>
              </a:rPr>
              <a:t>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Deprecated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old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3.x</a:t>
            </a:r>
            <a:r>
              <a:rPr b="1" lang="en-IN" sz="1200" spc="-4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features</a:t>
            </a:r>
            <a:r>
              <a:rPr b="1" lang="en-IN" sz="1200" spc="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for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standards.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Full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PSR-</a:t>
            </a:r>
            <a:r>
              <a:rPr b="1" lang="en-IN" sz="1200" spc="-1" strike="noStrike">
                <a:latin typeface="Times New Roman"/>
              </a:rPr>
              <a:t>4</a:t>
            </a:r>
            <a:r>
              <a:rPr b="1" lang="en-IN" sz="1200" spc="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PSR-</a:t>
            </a:r>
            <a:r>
              <a:rPr b="0" lang="en-IN" sz="1200" spc="-1" strike="noStrike">
                <a:latin typeface="Times New Roman"/>
              </a:rPr>
              <a:t>7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support.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ORM:</a:t>
            </a:r>
            <a:r>
              <a:rPr b="1" lang="en-IN" sz="1200" spc="-60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Improved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performance,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supports</a:t>
            </a:r>
            <a:r>
              <a:rPr b="0" lang="en-IN" sz="1200" spc="-7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typed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queries,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entity</a:t>
            </a:r>
            <a:r>
              <a:rPr b="0" lang="en-IN" sz="1200" spc="-7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casting.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Routing: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Supports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attributes,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scopes,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request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filters.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10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Middleware</a:t>
            </a:r>
            <a:r>
              <a:rPr b="1" lang="en-IN" sz="1200" spc="-7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&amp;</a:t>
            </a:r>
            <a:r>
              <a:rPr b="1" lang="en-IN" sz="1200" spc="9" strike="noStrike">
                <a:latin typeface="Times New Roman"/>
              </a:rPr>
              <a:t> </a:t>
            </a:r>
            <a:r>
              <a:rPr b="1" lang="en-IN" sz="1200" spc="-21" strike="noStrike">
                <a:latin typeface="Times New Roman"/>
              </a:rPr>
              <a:t>HTTP</a:t>
            </a:r>
            <a:r>
              <a:rPr b="1" lang="en-IN" sz="1200" spc="-7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stack:</a:t>
            </a:r>
            <a:r>
              <a:rPr b="1" lang="en-IN" sz="1200" spc="2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Fully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HTTP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request/response</a:t>
            </a:r>
            <a:r>
              <a:rPr b="0" lang="en-IN" sz="1200" spc="-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handling.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21" strike="noStrike">
                <a:latin typeface="Times New Roman"/>
              </a:rPr>
              <a:t>Type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hints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&amp;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strict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typing:</a:t>
            </a:r>
            <a:r>
              <a:rPr b="1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Encourages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practices.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8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Authentication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&amp;</a:t>
            </a:r>
            <a:r>
              <a:rPr b="1" lang="en-IN" sz="1200" spc="-80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Authorization:</a:t>
            </a:r>
            <a:r>
              <a:rPr b="1" lang="en-IN" sz="1200" spc="24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New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plugin-</a:t>
            </a:r>
            <a:r>
              <a:rPr b="0" lang="en-IN" sz="1200" spc="-1" strike="noStrike">
                <a:latin typeface="Times New Roman"/>
              </a:rPr>
              <a:t>based approach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(</a:t>
            </a:r>
            <a:r>
              <a:rPr b="0" lang="en-IN" sz="1200" spc="-21" strike="noStrike">
                <a:latin typeface="Courier New"/>
              </a:rPr>
              <a:t>Authentication</a:t>
            </a:r>
            <a:r>
              <a:rPr b="0" lang="en-IN" sz="1200" spc="-406" strike="noStrike">
                <a:latin typeface="Courier New"/>
              </a:rPr>
              <a:t> </a:t>
            </a:r>
            <a:r>
              <a:rPr b="0" lang="en-IN" sz="1200" spc="-26" strike="noStrike">
                <a:latin typeface="Times New Roman"/>
              </a:rPr>
              <a:t>and</a:t>
            </a:r>
            <a:endParaRPr b="0" lang="en-IN" sz="1200" spc="-1" strike="noStrike">
              <a:latin typeface="Arial"/>
            </a:endParaRPr>
          </a:p>
          <a:p>
            <a:pPr marL="463680">
              <a:lnSpc>
                <a:spcPct val="100000"/>
              </a:lnSpc>
              <a:spcBef>
                <a:spcPts val="241"/>
              </a:spcBef>
              <a:buNone/>
              <a:tabLst>
                <a:tab algn="l" pos="462960"/>
              </a:tabLst>
            </a:pPr>
            <a:r>
              <a:rPr b="0" lang="en-IN" sz="1200" spc="-21" strike="noStrike">
                <a:latin typeface="Courier New"/>
              </a:rPr>
              <a:t>Authorization</a:t>
            </a:r>
            <a:r>
              <a:rPr b="0" lang="en-IN" sz="1200" spc="-301" strike="noStrike">
                <a:latin typeface="Courier New"/>
              </a:rPr>
              <a:t> </a:t>
            </a:r>
            <a:r>
              <a:rPr b="0" lang="en-IN" sz="1200" spc="-12" strike="noStrike">
                <a:latin typeface="Times New Roman"/>
              </a:rPr>
              <a:t>plugins).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1009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Improved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security: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CSRF, </a:t>
            </a:r>
            <a:r>
              <a:rPr b="0" lang="en-IN" sz="1200" spc="-1" strike="noStrike">
                <a:latin typeface="Times New Roman"/>
              </a:rPr>
              <a:t>cookie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encryption,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password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hashing.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16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Cache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&amp;</a:t>
            </a:r>
            <a:r>
              <a:rPr b="1" lang="en-IN" sz="1200" spc="-7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Logging: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More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flexible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PSR-6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compliant.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6"/>
              </a:spcBef>
              <a:buNone/>
              <a:tabLst>
                <a:tab algn="l" pos="462960"/>
              </a:tabLst>
            </a:pPr>
            <a:r>
              <a:rPr b="1" lang="en-IN" sz="1400" spc="-12" strike="noStrike">
                <a:latin typeface="Times New Roman"/>
              </a:rPr>
              <a:t>Benefits</a:t>
            </a:r>
            <a:endParaRPr b="0" lang="en-IN" sz="14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609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2" strike="noStrike">
                <a:latin typeface="Times New Roman"/>
              </a:rPr>
              <a:t>Cleaner,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code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base.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Easier</a:t>
            </a:r>
            <a:r>
              <a:rPr b="0" lang="en-IN" sz="1200" spc="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integration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with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libraries (Composer-based).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Optimized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performance.</a:t>
            </a:r>
            <a:endParaRPr b="0" lang="en-IN" sz="1200" spc="-1" strike="noStrike">
              <a:latin typeface="Arial"/>
            </a:endParaRPr>
          </a:p>
          <a:p>
            <a:pPr lvl="1"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Encourages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stricter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typing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best</a:t>
            </a:r>
            <a:r>
              <a:rPr b="0" lang="en-IN" sz="1200" spc="-12" strike="noStrike">
                <a:latin typeface="Times New Roman"/>
              </a:rPr>
              <a:t> practices.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46296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64"/>
              </a:spcBef>
              <a:buNone/>
              <a:tabLst>
                <a:tab algn="l" pos="462960"/>
              </a:tabLst>
            </a:pPr>
            <a:endParaRPr b="0" lang="en-IN" sz="1200" spc="-1" strike="noStrike">
              <a:latin typeface="Arial"/>
            </a:endParaRPr>
          </a:p>
          <a:p>
            <a:pPr marL="243360" indent="-23040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 startAt="4"/>
              <a:tabLst>
                <a:tab algn="l" pos="243360"/>
              </a:tabLst>
            </a:pPr>
            <a:r>
              <a:rPr b="1" lang="en-IN" sz="1800" spc="-21" strike="noStrike">
                <a:latin typeface="Times New Roman"/>
              </a:rPr>
              <a:t>CakePHP</a:t>
            </a:r>
            <a:r>
              <a:rPr b="1" lang="en-IN" sz="1800" spc="-52" strike="noStrike">
                <a:latin typeface="Times New Roman"/>
              </a:rPr>
              <a:t> </a:t>
            </a:r>
            <a:r>
              <a:rPr b="1" lang="en-IN" sz="1800" spc="-26" strike="noStrike">
                <a:latin typeface="Times New Roman"/>
              </a:rPr>
              <a:t>5.x</a:t>
            </a:r>
            <a:endParaRPr b="0" lang="en-IN" sz="18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05"/>
              </a:spcBef>
              <a:buNone/>
              <a:tabLst>
                <a:tab algn="l" pos="243360"/>
              </a:tabLst>
            </a:pPr>
            <a:r>
              <a:rPr b="1" lang="en-IN" sz="1200" spc="-1" strike="noStrike">
                <a:latin typeface="Times New Roman"/>
              </a:rPr>
              <a:t>Released:</a:t>
            </a:r>
            <a:r>
              <a:rPr b="1" lang="en-IN" sz="1200" spc="-55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2023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bject 2"/>
          <p:cNvSpPr/>
          <p:nvPr/>
        </p:nvSpPr>
        <p:spPr>
          <a:xfrm>
            <a:off x="707040" y="604800"/>
            <a:ext cx="5806080" cy="55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 anchor="t">
            <a:spAutoFit/>
          </a:bodyPr>
          <a:p>
            <a:pPr marL="12600"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IN" sz="1400" spc="-1" strike="noStrike">
                <a:latin typeface="Times New Roman"/>
              </a:rPr>
              <a:t>Key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Features</a:t>
            </a:r>
            <a:r>
              <a:rPr b="1" lang="en-IN" sz="1400" spc="-35" strike="noStrike">
                <a:latin typeface="Times New Roman"/>
              </a:rPr>
              <a:t> </a:t>
            </a:r>
            <a:r>
              <a:rPr b="1" lang="en-IN" sz="1400" spc="-1" strike="noStrike">
                <a:latin typeface="Times New Roman"/>
              </a:rPr>
              <a:t>&amp;</a:t>
            </a:r>
            <a:r>
              <a:rPr b="1" lang="en-IN" sz="1400" spc="-41" strike="noStrike">
                <a:latin typeface="Times New Roman"/>
              </a:rPr>
              <a:t> </a:t>
            </a:r>
            <a:r>
              <a:rPr b="1" lang="en-IN" sz="1400" spc="-12" strike="noStrike">
                <a:latin typeface="Times New Roman"/>
              </a:rPr>
              <a:t>Improvements</a:t>
            </a:r>
            <a:endParaRPr b="0" lang="en-IN" sz="14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604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Requires</a:t>
            </a:r>
            <a:r>
              <a:rPr b="0" lang="en-IN" sz="1200" spc="-66" strike="noStrike">
                <a:latin typeface="Times New Roman"/>
              </a:rPr>
              <a:t> </a:t>
            </a:r>
            <a:r>
              <a:rPr b="1" lang="en-IN" sz="1200" spc="-21" strike="noStrike">
                <a:latin typeface="Times New Roman"/>
              </a:rPr>
              <a:t>PHP</a:t>
            </a:r>
            <a:r>
              <a:rPr b="1" lang="en-IN" sz="1200" spc="-7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8.1+</a:t>
            </a:r>
            <a:r>
              <a:rPr b="1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(modern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features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like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attributes,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union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types,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enums).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Fully</a:t>
            </a:r>
            <a:r>
              <a:rPr b="0" lang="en-IN" sz="1200" spc="-6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modernized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architecture</a:t>
            </a:r>
            <a:r>
              <a:rPr b="0" lang="en-IN" sz="1200" spc="-12" strike="noStrike">
                <a:latin typeface="Times New Roman"/>
              </a:rPr>
              <a:t>:</a:t>
            </a:r>
            <a:endParaRPr b="0" lang="en-IN" sz="1200" spc="-1" strike="noStrike">
              <a:latin typeface="Arial"/>
            </a:endParaRPr>
          </a:p>
          <a:p>
            <a:pPr lvl="1" marL="9111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911160"/>
              </a:tabLst>
            </a:pPr>
            <a:r>
              <a:rPr b="0" lang="en-IN" sz="1200" spc="-1" strike="noStrike">
                <a:latin typeface="Times New Roman"/>
              </a:rPr>
              <a:t>Removed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legacy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code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from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4.x.</a:t>
            </a:r>
            <a:endParaRPr b="0" lang="en-IN" sz="1200" spc="-1" strike="noStrike">
              <a:latin typeface="Arial"/>
            </a:endParaRPr>
          </a:p>
          <a:p>
            <a:pPr lvl="1" marL="9111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911160"/>
              </a:tabLst>
            </a:pPr>
            <a:r>
              <a:rPr b="0" lang="en-IN" sz="1200" spc="-1" strike="noStrike">
                <a:latin typeface="Times New Roman"/>
              </a:rPr>
              <a:t>Focused on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performance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4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simplicity.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ORM: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Fully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typed, </a:t>
            </a:r>
            <a:r>
              <a:rPr b="0" lang="en-IN" sz="1200" spc="-12" strike="noStrike">
                <a:latin typeface="Times New Roman"/>
              </a:rPr>
              <a:t>performance-</a:t>
            </a:r>
            <a:r>
              <a:rPr b="0" lang="en-IN" sz="1200" spc="-1" strike="noStrike">
                <a:latin typeface="Times New Roman"/>
              </a:rPr>
              <a:t>optimized, better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query</a:t>
            </a:r>
            <a:r>
              <a:rPr b="0" lang="en-IN" sz="1200" spc="-5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caching.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Routing:</a:t>
            </a:r>
            <a:r>
              <a:rPr b="1" lang="en-IN" sz="1200" spc="-7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Attributes-</a:t>
            </a:r>
            <a:r>
              <a:rPr b="0" lang="en-IN" sz="1200" spc="-1" strike="noStrike">
                <a:latin typeface="Times New Roman"/>
              </a:rPr>
              <a:t>based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routing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support,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better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REST</a:t>
            </a:r>
            <a:r>
              <a:rPr b="0" lang="en-IN" sz="1200" spc="-7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API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integration.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Middleware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&amp;</a:t>
            </a:r>
            <a:r>
              <a:rPr b="1" lang="en-IN" sz="1200" spc="-7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HTTP:</a:t>
            </a:r>
            <a:r>
              <a:rPr b="1" lang="en-IN" sz="1200" spc="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Native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PSR-</a:t>
            </a:r>
            <a:r>
              <a:rPr b="0" lang="en-IN" sz="1200" spc="-1" strike="noStrike">
                <a:latin typeface="Times New Roman"/>
              </a:rPr>
              <a:t>15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middleware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support.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16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2" strike="noStrike">
                <a:latin typeface="Times New Roman"/>
              </a:rPr>
              <a:t>Authentication/Authorization:</a:t>
            </a:r>
            <a:r>
              <a:rPr b="1" lang="en-IN" sz="1200" spc="43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Fully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plugin-</a:t>
            </a:r>
            <a:r>
              <a:rPr b="0" lang="en-IN" sz="1200" spc="-1" strike="noStrike">
                <a:latin typeface="Times New Roman"/>
              </a:rPr>
              <a:t>driven,</a:t>
            </a:r>
            <a:r>
              <a:rPr b="0" lang="en-IN" sz="1200" spc="49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more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secure</a:t>
            </a:r>
            <a:r>
              <a:rPr b="0" lang="en-IN" sz="1200" spc="9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defaults.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Logging</a:t>
            </a:r>
            <a:r>
              <a:rPr b="1" lang="en-IN" sz="1200" spc="-12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&amp;</a:t>
            </a:r>
            <a:r>
              <a:rPr b="1" lang="en-IN" sz="1200" spc="4" strike="noStrike">
                <a:latin typeface="Times New Roman"/>
              </a:rPr>
              <a:t> </a:t>
            </a:r>
            <a:r>
              <a:rPr b="1" lang="en-IN" sz="1200" spc="-21" strike="noStrike">
                <a:latin typeface="Times New Roman"/>
              </a:rPr>
              <a:t>Error</a:t>
            </a:r>
            <a:r>
              <a:rPr b="1" lang="en-IN" sz="1200" spc="-5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Handling:</a:t>
            </a:r>
            <a:r>
              <a:rPr b="1" lang="en-IN" sz="1200" spc="24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PSR-compliant</a:t>
            </a:r>
            <a:r>
              <a:rPr b="0" lang="en-IN" sz="1200" spc="18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logging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error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handling.</a:t>
            </a:r>
            <a:endParaRPr b="0" lang="en-IN" sz="1200" spc="-1" strike="noStrike">
              <a:latin typeface="Arial"/>
            </a:endParaRPr>
          </a:p>
          <a:p>
            <a:pPr marL="462240" indent="-178920">
              <a:lnSpc>
                <a:spcPct val="110000"/>
              </a:lnSpc>
              <a:spcBef>
                <a:spcPts val="794"/>
              </a:spcBef>
              <a:buClr>
                <a:srgbClr val="000000"/>
              </a:buClr>
              <a:buFont typeface="Symbol"/>
              <a:buChar char=""/>
              <a:tabLst>
                <a:tab algn="l" pos="463680"/>
              </a:tabLst>
            </a:pPr>
            <a:r>
              <a:rPr b="1" lang="en-IN" sz="1200" spc="-1" strike="noStrike">
                <a:latin typeface="Times New Roman"/>
              </a:rPr>
              <a:t>Backward</a:t>
            </a:r>
            <a:r>
              <a:rPr b="1" lang="en-IN" sz="1200" spc="-26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compatibility: </a:t>
            </a:r>
            <a:r>
              <a:rPr b="0" lang="en-IN" sz="1200" spc="-12" strike="noStrike">
                <a:latin typeface="Times New Roman"/>
              </a:rPr>
              <a:t>Minimal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4.x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features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retained;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many</a:t>
            </a:r>
            <a:r>
              <a:rPr b="0" lang="en-IN" sz="1200" spc="-6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deprecated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4.x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features </a:t>
            </a:r>
            <a:r>
              <a:rPr b="0" lang="en-IN" sz="1200" spc="-12" strike="noStrike">
                <a:latin typeface="Times New Roman"/>
              </a:rPr>
              <a:t>	</a:t>
            </a:r>
            <a:r>
              <a:rPr b="0" lang="en-IN" sz="1200" spc="-12" strike="noStrike">
                <a:latin typeface="Times New Roman"/>
              </a:rPr>
              <a:t>removed.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1" strike="noStrike">
                <a:latin typeface="Times New Roman"/>
              </a:rPr>
              <a:t>Performance: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Faster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bootstrapping,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reduced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memory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footprint.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1" lang="en-IN" sz="1200" spc="-21" strike="noStrike">
                <a:latin typeface="Times New Roman"/>
              </a:rPr>
              <a:t>Type</a:t>
            </a:r>
            <a:r>
              <a:rPr b="1" lang="en-IN" sz="1200" spc="-4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Safety: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Enforces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strict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types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throughout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codebase.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59"/>
              </a:spcBef>
              <a:buNone/>
              <a:tabLst>
                <a:tab algn="l" pos="462960"/>
              </a:tabLst>
            </a:pPr>
            <a:r>
              <a:rPr b="1" lang="en-IN" sz="1400" spc="-12" strike="noStrike">
                <a:latin typeface="Times New Roman"/>
              </a:rPr>
              <a:t>Advantages</a:t>
            </a:r>
            <a:endParaRPr b="0" lang="en-IN" sz="14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609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Best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suited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for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7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projects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(8.1+).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More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modular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12" strike="noStrike">
                <a:latin typeface="Times New Roman"/>
              </a:rPr>
              <a:t> extendable.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35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" strike="noStrike">
                <a:latin typeface="Times New Roman"/>
              </a:rPr>
              <a:t>Better</a:t>
            </a:r>
            <a:r>
              <a:rPr b="0" lang="en-IN" sz="1200" spc="-12" strike="noStrike">
                <a:latin typeface="Times New Roman"/>
              </a:rPr>
              <a:t> integration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with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frameworks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packages.</a:t>
            </a:r>
            <a:endParaRPr b="0" lang="en-IN" sz="1200" spc="-1" strike="noStrike">
              <a:latin typeface="Arial"/>
            </a:endParaRPr>
          </a:p>
          <a:p>
            <a:pPr marL="462960" indent="-178920">
              <a:lnSpc>
                <a:spcPct val="100000"/>
              </a:lnSpc>
              <a:spcBef>
                <a:spcPts val="941"/>
              </a:spcBef>
              <a:buClr>
                <a:srgbClr val="000000"/>
              </a:buClr>
              <a:buFont typeface="Symbol"/>
              <a:buChar char=""/>
              <a:tabLst>
                <a:tab algn="l" pos="462960"/>
              </a:tabLst>
            </a:pPr>
            <a:r>
              <a:rPr b="0" lang="en-IN" sz="1200" spc="-12" strike="noStrike">
                <a:latin typeface="Times New Roman"/>
              </a:rPr>
              <a:t>Cleaner,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stricter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codebase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→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fewer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bugs.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701280" y="6393600"/>
            <a:ext cx="6159240" cy="9000"/>
          </a:xfrm>
          <a:custGeom>
            <a:avLst/>
            <a:gdLst/>
            <a:ahLst/>
            <a:rect l="l" t="t" r="r" b="b"/>
            <a:pathLst>
              <a:path w="6159500" h="9525">
                <a:moveTo>
                  <a:pt x="6159373" y="6083"/>
                </a:moveTo>
                <a:lnTo>
                  <a:pt x="0" y="6083"/>
                </a:lnTo>
                <a:lnTo>
                  <a:pt x="0" y="9131"/>
                </a:lnTo>
                <a:lnTo>
                  <a:pt x="6159373" y="9131"/>
                </a:lnTo>
                <a:lnTo>
                  <a:pt x="6159373" y="6083"/>
                </a:lnTo>
                <a:close/>
              </a:path>
              <a:path w="6159500" h="9525">
                <a:moveTo>
                  <a:pt x="6159373" y="0"/>
                </a:moveTo>
                <a:lnTo>
                  <a:pt x="0" y="0"/>
                </a:lnTo>
                <a:lnTo>
                  <a:pt x="0" y="3035"/>
                </a:lnTo>
                <a:lnTo>
                  <a:pt x="6159373" y="3035"/>
                </a:lnTo>
                <a:lnTo>
                  <a:pt x="6159373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object 4"/>
          <p:cNvSpPr/>
          <p:nvPr/>
        </p:nvSpPr>
        <p:spPr>
          <a:xfrm>
            <a:off x="707040" y="6554520"/>
            <a:ext cx="16524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IN" sz="1800" spc="-1" strike="noStrike">
                <a:latin typeface="Times New Roman"/>
              </a:rPr>
              <a:t>Summary</a:t>
            </a:r>
            <a:r>
              <a:rPr b="1" lang="en-IN" sz="1800" spc="-97" strike="noStrike">
                <a:latin typeface="Times New Roman"/>
              </a:rPr>
              <a:t> </a:t>
            </a:r>
            <a:r>
              <a:rPr b="1" lang="en-IN" sz="1800" spc="-26" strike="noStrike">
                <a:latin typeface="Times New Roman"/>
              </a:rPr>
              <a:t>Table:</a:t>
            </a:r>
            <a:endParaRPr b="0" lang="en-IN" sz="1800" spc="-1" strike="noStrike">
              <a:latin typeface="Arial"/>
            </a:endParaRPr>
          </a:p>
        </p:txBody>
      </p:sp>
      <p:graphicFrame>
        <p:nvGraphicFramePr>
          <p:cNvPr id="91" name="object 5"/>
          <p:cNvGraphicFramePr/>
          <p:nvPr/>
        </p:nvGraphicFramePr>
        <p:xfrm>
          <a:off x="706320" y="6943680"/>
          <a:ext cx="6059520" cy="2936520"/>
        </p:xfrm>
        <a:graphic>
          <a:graphicData uri="http://schemas.openxmlformats.org/drawingml/2006/table">
            <a:tbl>
              <a:tblPr/>
              <a:tblGrid>
                <a:gridCol w="1252080"/>
                <a:gridCol w="795600"/>
                <a:gridCol w="1096560"/>
                <a:gridCol w="1290600"/>
                <a:gridCol w="1624680"/>
              </a:tblGrid>
              <a:tr h="364320">
                <a:tc>
                  <a:txBody>
                    <a:bodyPr lIns="0" rIns="0" tIns="71640" bIns="0" anchor="t">
                      <a:noAutofit/>
                    </a:bodyPr>
                    <a:p>
                      <a:pPr marL="79920">
                        <a:lnSpc>
                          <a:spcPct val="100000"/>
                        </a:lnSpc>
                        <a:spcBef>
                          <a:spcPts val="564"/>
                        </a:spcBef>
                        <a:buNone/>
                      </a:pPr>
                      <a:r>
                        <a:rPr b="1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Feature</a:t>
                      </a:r>
                      <a:r>
                        <a:rPr b="1" lang="en-IN" sz="1200" spc="-4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/</a:t>
                      </a:r>
                      <a:r>
                        <a:rPr b="1" lang="en-IN" sz="1200" spc="-5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Version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02960">
                        <a:lnSpc>
                          <a:spcPts val="1284"/>
                        </a:lnSpc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endParaRPr b="0" lang="en-IN" sz="1200" spc="-1" strike="noStrike">
                        <a:latin typeface="Arial"/>
                      </a:endParaRPr>
                    </a:p>
                    <a:p>
                      <a:pPr marL="325080">
                        <a:lnSpc>
                          <a:spcPts val="1414"/>
                        </a:lnSpc>
                        <a:buNone/>
                      </a:pPr>
                      <a:r>
                        <a:rPr b="1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2.x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71640" bIns="0" anchor="t">
                      <a:noAutofit/>
                    </a:bodyPr>
                    <a:p>
                      <a:pPr marL="160560">
                        <a:lnSpc>
                          <a:spcPct val="100000"/>
                        </a:lnSpc>
                        <a:spcBef>
                          <a:spcPts val="564"/>
                        </a:spcBef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r>
                        <a:rPr b="1" lang="en-IN" sz="1200" spc="-7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3.x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71640" bIns="0" anchor="t">
                      <a:noAutofit/>
                    </a:bodyPr>
                    <a:p>
                      <a:pPr marL="252720">
                        <a:lnSpc>
                          <a:spcPct val="100000"/>
                        </a:lnSpc>
                        <a:spcBef>
                          <a:spcPts val="564"/>
                        </a:spcBef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r>
                        <a:rPr b="1" lang="en-IN" sz="1200" spc="-7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4.x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71640" bIns="0" anchor="t">
                      <a:noAutofit/>
                    </a:bodyPr>
                    <a:p>
                      <a:pPr marL="428760">
                        <a:lnSpc>
                          <a:spcPct val="100000"/>
                        </a:lnSpc>
                        <a:spcBef>
                          <a:spcPts val="564"/>
                        </a:spcBef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r>
                        <a:rPr b="1" lang="en-IN" sz="1200" spc="-7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5.x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200">
                <a:tc>
                  <a:txBody>
                    <a:bodyPr lIns="0" rIns="0" tIns="9072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714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PHP</a:t>
                      </a:r>
                      <a:r>
                        <a:rPr b="0" lang="en-IN" sz="1200" spc="-7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Version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072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714"/>
                        </a:spcBef>
                        <a:buNone/>
                      </a:pP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5.x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0760">
                        <a:lnSpc>
                          <a:spcPts val="1414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5.4+</a:t>
                      </a:r>
                      <a:r>
                        <a:rPr b="0" lang="en-IN" sz="1200" spc="4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(PHP</a:t>
                      </a:r>
                      <a:r>
                        <a:rPr b="0" lang="en-IN" sz="1200" spc="-5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5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</a:t>
                      </a:r>
                      <a:endParaRPr b="0" lang="en-IN" sz="1200" spc="-1" strike="noStrike">
                        <a:latin typeface="Arial"/>
                      </a:endParaRPr>
                    </a:p>
                    <a:p>
                      <a:pPr marL="50760">
                        <a:lnSpc>
                          <a:spcPts val="1414"/>
                        </a:lnSpc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optional)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0720" bIns="0" anchor="t">
                      <a:noAutofit/>
                    </a:bodyPr>
                    <a:p>
                      <a:pPr marL="73080">
                        <a:lnSpc>
                          <a:spcPct val="100000"/>
                        </a:lnSpc>
                        <a:spcBef>
                          <a:spcPts val="714"/>
                        </a:spcBef>
                        <a:buNone/>
                      </a:pPr>
                      <a:r>
                        <a:rPr b="0" lang="en-IN" sz="1200" spc="-2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7.2+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0720" bIns="0" anchor="t">
                      <a:noAutofit/>
                    </a:bodyPr>
                    <a:p>
                      <a:pPr marL="38160">
                        <a:lnSpc>
                          <a:spcPct val="100000"/>
                        </a:lnSpc>
                        <a:spcBef>
                          <a:spcPts val="714"/>
                        </a:spcBef>
                        <a:buNone/>
                      </a:pPr>
                      <a:r>
                        <a:rPr b="0" lang="en-IN" sz="1200" spc="-2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8.1+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880">
                <a:tc>
                  <a:txBody>
                    <a:bodyPr lIns="0" rIns="0" tIns="360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Namespaces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730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3816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880">
                <a:tc>
                  <a:txBody>
                    <a:bodyPr lIns="0" rIns="0" tIns="360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PSR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Compliance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Partial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730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58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(PSR-4/7/6)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3816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Fully</a:t>
                      </a:r>
                      <a:r>
                        <a:rPr b="0" lang="en-IN" sz="1200" spc="-3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PSR-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compliant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6640">
                <a:tc>
                  <a:txBody>
                    <a:bodyPr lIns="0" rIns="0" tIns="9180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ORM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180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Basic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5120" bIns="0" anchor="t">
                      <a:noAutofit/>
                    </a:bodyPr>
                    <a:p>
                      <a:pPr marL="50760">
                        <a:lnSpc>
                          <a:spcPts val="1389"/>
                        </a:lnSpc>
                        <a:spcBef>
                          <a:spcPts val="119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Improved, modern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1800" bIns="0" anchor="t">
                      <a:noAutofit/>
                    </a:bodyPr>
                    <a:p>
                      <a:pPr marL="7308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Typed</a:t>
                      </a: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&amp;</a:t>
                      </a:r>
                      <a:r>
                        <a:rPr b="0" lang="en-IN" sz="1200" spc="-6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optimized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1800" bIns="0" anchor="t">
                      <a:noAutofit/>
                    </a:bodyPr>
                    <a:p>
                      <a:pPr marL="3816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Fully</a:t>
                      </a:r>
                      <a:r>
                        <a:rPr b="0" lang="en-IN" sz="1200" spc="-6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typed,</a:t>
                      </a:r>
                      <a:r>
                        <a:rPr b="0" lang="en-IN" sz="1200" spc="-7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performant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880">
                <a:tc>
                  <a:txBody>
                    <a:bodyPr lIns="0" rIns="0" tIns="360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Middleware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Partial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7308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2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Full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38160">
                        <a:lnSpc>
                          <a:spcPct val="100000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Full</a:t>
                      </a:r>
                      <a:r>
                        <a:rPr b="0" lang="en-IN" sz="1200" spc="-3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PSR-</a:t>
                      </a:r>
                      <a:r>
                        <a:rPr b="0" lang="en-IN" sz="1200" spc="-3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200">
                <a:tc>
                  <a:txBody>
                    <a:bodyPr lIns="0" rIns="0" tIns="16920" bIns="0" anchor="t">
                      <a:noAutofit/>
                    </a:bodyPr>
                    <a:p>
                      <a:pPr marL="31680">
                        <a:lnSpc>
                          <a:spcPts val="1369"/>
                        </a:lnSpc>
                        <a:spcBef>
                          <a:spcPts val="136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Type</a:t>
                      </a:r>
                      <a:r>
                        <a:rPr b="0" lang="en-IN" sz="1200" spc="-3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hinting</a:t>
                      </a:r>
                      <a:r>
                        <a:rPr b="0" lang="en-IN" sz="1200" spc="-5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/</a:t>
                      </a:r>
                      <a:r>
                        <a:rPr b="0" lang="en-IN" sz="1200" spc="-4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strict typing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180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1800" bIns="0" anchor="t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Partial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1800" bIns="0" anchor="t">
                      <a:noAutofit/>
                    </a:bodyPr>
                    <a:p>
                      <a:pPr marL="7308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Encouraged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1800" bIns="0" anchor="t">
                      <a:noAutofit/>
                    </a:bodyPr>
                    <a:p>
                      <a:pPr marL="38160">
                        <a:lnSpc>
                          <a:spcPct val="100000"/>
                        </a:lnSpc>
                        <a:spcBef>
                          <a:spcPts val="726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Enforced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1320">
                <a:tc>
                  <a:txBody>
                    <a:bodyPr lIns="0" rIns="0" tIns="540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Routing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540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Basic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5400" bIns="0" anchor="t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Advanced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5400" bIns="0" anchor="t">
                      <a:noAutofit/>
                    </a:bodyPr>
                    <a:p>
                      <a:pPr marL="73080">
                        <a:lnSpc>
                          <a:spcPct val="100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Attributes</a:t>
                      </a:r>
                      <a:r>
                        <a:rPr b="0" lang="en-IN" sz="1200" spc="-7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support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5400" bIns="0" anchor="t">
                      <a:noAutofit/>
                    </a:bodyPr>
                    <a:p>
                      <a:pPr marL="38160">
                        <a:lnSpc>
                          <a:spcPct val="100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Attributes</a:t>
                      </a:r>
                      <a:r>
                        <a:rPr b="0" lang="en-IN" sz="1200" spc="-3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&amp;</a:t>
                      </a:r>
                      <a:r>
                        <a:rPr b="0" lang="en-IN" sz="1200" spc="-4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3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REST-</a:t>
                      </a:r>
                      <a:r>
                        <a:rPr b="0" lang="en-IN" sz="1200" spc="-2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ready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3400">
                <a:tc>
                  <a:txBody>
                    <a:bodyPr lIns="0" rIns="0" tIns="8928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706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Auth</a:t>
                      </a:r>
                      <a:r>
                        <a:rPr b="0" lang="en-IN" sz="1200" spc="-3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/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89280" bIns="0" anchor="t">
                      <a:noAutofit/>
                    </a:bodyPr>
                    <a:p>
                      <a:pPr marL="29880">
                        <a:lnSpc>
                          <a:spcPct val="100000"/>
                        </a:lnSpc>
                        <a:spcBef>
                          <a:spcPts val="706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Basic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89280" bIns="0" anchor="t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  <a:spcBef>
                          <a:spcPts val="706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Plugin-based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6920" bIns="0" anchor="t">
                      <a:noAutofit/>
                    </a:bodyPr>
                    <a:p>
                      <a:pPr marL="73080">
                        <a:lnSpc>
                          <a:spcPts val="1369"/>
                        </a:lnSpc>
                        <a:spcBef>
                          <a:spcPts val="136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Plugin-based, improved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16920" bIns="0" anchor="t">
                      <a:noAutofit/>
                    </a:bodyPr>
                    <a:p>
                      <a:pPr marL="38160">
                        <a:lnSpc>
                          <a:spcPts val="1369"/>
                        </a:lnSpc>
                        <a:spcBef>
                          <a:spcPts val="136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Modern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plugin-based,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stricter</a:t>
                      </a:r>
                      <a:r>
                        <a:rPr b="0" lang="en-IN" sz="1200" spc="-4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defaults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90800">
                <a:tc>
                  <a:txBody>
                    <a:bodyPr lIns="0" rIns="0" tIns="3600" bIns="0" anchor="t">
                      <a:noAutofit/>
                    </a:bodyPr>
                    <a:p>
                      <a:pPr marL="31680">
                        <a:lnSpc>
                          <a:spcPts val="1361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Performance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29880">
                        <a:lnSpc>
                          <a:spcPts val="1361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Moderate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50760">
                        <a:lnSpc>
                          <a:spcPts val="1361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Improved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73080">
                        <a:lnSpc>
                          <a:spcPts val="1361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Better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38160">
                        <a:lnSpc>
                          <a:spcPts val="1361"/>
                        </a:lnSpc>
                        <a:spcBef>
                          <a:spcPts val="31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Optimized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bject 2"/>
          <p:cNvSpPr/>
          <p:nvPr/>
        </p:nvSpPr>
        <p:spPr>
          <a:xfrm>
            <a:off x="701280" y="807840"/>
            <a:ext cx="6159240" cy="9000"/>
          </a:xfrm>
          <a:custGeom>
            <a:avLst/>
            <a:gdLst/>
            <a:ahLst/>
            <a:rect l="l" t="t" r="r" b="b"/>
            <a:pathLst>
              <a:path w="6159500" h="9525">
                <a:moveTo>
                  <a:pt x="6159373" y="6096"/>
                </a:moveTo>
                <a:lnTo>
                  <a:pt x="0" y="6096"/>
                </a:lnTo>
                <a:lnTo>
                  <a:pt x="0" y="9144"/>
                </a:lnTo>
                <a:lnTo>
                  <a:pt x="6159373" y="9144"/>
                </a:lnTo>
                <a:lnTo>
                  <a:pt x="6159373" y="6096"/>
                </a:lnTo>
                <a:close/>
              </a:path>
              <a:path w="6159500" h="9525">
                <a:moveTo>
                  <a:pt x="6159373" y="0"/>
                </a:moveTo>
                <a:lnTo>
                  <a:pt x="0" y="0"/>
                </a:lnTo>
                <a:lnTo>
                  <a:pt x="0" y="3048"/>
                </a:lnTo>
                <a:lnTo>
                  <a:pt x="6159373" y="3048"/>
                </a:lnTo>
                <a:lnTo>
                  <a:pt x="6159373" y="0"/>
                </a:lnTo>
                <a:close/>
              </a:path>
            </a:pathLst>
          </a:cu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object 3"/>
          <p:cNvSpPr/>
          <p:nvPr/>
        </p:nvSpPr>
        <p:spPr>
          <a:xfrm>
            <a:off x="707040" y="868320"/>
            <a:ext cx="5495400" cy="19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6280" bIns="0" anchor="t">
            <a:spAutoFit/>
          </a:bodyPr>
          <a:p>
            <a:pPr marL="167760" indent="-165240">
              <a:lnSpc>
                <a:spcPct val="100000"/>
              </a:lnSpc>
              <a:spcBef>
                <a:spcPts val="916"/>
              </a:spcBef>
              <a:buClr>
                <a:srgbClr val="000000"/>
              </a:buClr>
              <a:buFont typeface="StarSymbol"/>
              <a:buChar char="◻"/>
              <a:tabLst>
                <a:tab algn="l" pos="167760"/>
              </a:tabLst>
            </a:pPr>
            <a:r>
              <a:rPr b="1" lang="en-IN" sz="1200" spc="-1" strike="noStrike">
                <a:latin typeface="Times New Roman"/>
              </a:rPr>
              <a:t>Key</a:t>
            </a:r>
            <a:r>
              <a:rPr b="1" lang="en-IN" sz="1200" spc="-12" strike="noStrike">
                <a:latin typeface="Times New Roman"/>
              </a:rPr>
              <a:t> Takeaways</a:t>
            </a:r>
            <a:endParaRPr b="0" lang="en-IN" sz="1200" spc="-1" strike="noStrike">
              <a:latin typeface="Arial"/>
            </a:endParaRPr>
          </a:p>
          <a:p>
            <a:pPr marL="283680">
              <a:lnSpc>
                <a:spcPct val="100000"/>
              </a:lnSpc>
              <a:spcBef>
                <a:spcPts val="816"/>
              </a:spcBef>
              <a:buNone/>
              <a:tabLst>
                <a:tab algn="l" pos="167760"/>
              </a:tabLst>
            </a:pPr>
            <a:r>
              <a:rPr b="0" lang="en-IN" sz="1200" spc="-1" strike="noStrike">
                <a:latin typeface="Times New Roman"/>
              </a:rPr>
              <a:t>1.</a:t>
            </a:r>
            <a:r>
              <a:rPr b="0" lang="en-IN" sz="1200" spc="162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2.x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→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3.x:</a:t>
            </a:r>
            <a:r>
              <a:rPr b="1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Major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rewrite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with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namespaces,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ORM,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middleware.</a:t>
            </a:r>
            <a:endParaRPr b="0" lang="en-IN" sz="1200" spc="-1" strike="noStrike">
              <a:latin typeface="Arial"/>
            </a:endParaRPr>
          </a:p>
          <a:p>
            <a:pPr lvl="1" marL="463680" indent="-179640">
              <a:lnSpc>
                <a:spcPct val="100000"/>
              </a:lnSpc>
              <a:spcBef>
                <a:spcPts val="870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463680"/>
              </a:tabLst>
            </a:pPr>
            <a:r>
              <a:rPr b="1" lang="en-IN" sz="1200" spc="-1" strike="noStrike">
                <a:latin typeface="Times New Roman"/>
              </a:rPr>
              <a:t>3.x</a:t>
            </a:r>
            <a:r>
              <a:rPr b="1" lang="en-IN" sz="1200" spc="-4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→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4.x:</a:t>
            </a:r>
            <a:r>
              <a:rPr b="1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Drops</a:t>
            </a:r>
            <a:r>
              <a:rPr b="0" lang="en-IN" sz="1200" spc="-5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old features,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adds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strict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typing,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HTTP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stack.</a:t>
            </a:r>
            <a:endParaRPr b="0" lang="en-IN" sz="1200" spc="-1" strike="noStrike">
              <a:latin typeface="Arial"/>
            </a:endParaRPr>
          </a:p>
          <a:p>
            <a:pPr lvl="1" marL="463680" indent="-180360">
              <a:lnSpc>
                <a:spcPct val="110000"/>
              </a:lnSpc>
              <a:spcBef>
                <a:spcPts val="694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463680"/>
              </a:tabLst>
            </a:pPr>
            <a:r>
              <a:rPr b="1" lang="en-IN" sz="1200" spc="-1" strike="noStrike">
                <a:latin typeface="Times New Roman"/>
              </a:rPr>
              <a:t>4.x</a:t>
            </a:r>
            <a:r>
              <a:rPr b="1" lang="en-IN" sz="1200" spc="-3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→</a:t>
            </a:r>
            <a:r>
              <a:rPr b="1" lang="en-IN" sz="1200" spc="-21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5.x:</a:t>
            </a:r>
            <a:r>
              <a:rPr b="1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Fully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modern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PHP</a:t>
            </a:r>
            <a:r>
              <a:rPr b="0" lang="en-IN" sz="1200" spc="-5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(8.1+),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typed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ORM,</a:t>
            </a:r>
            <a:r>
              <a:rPr b="0" lang="en-IN" sz="1200" spc="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faster,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cleaner, stricter,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PSR-</a:t>
            </a:r>
            <a:r>
              <a:rPr b="0" lang="en-IN" sz="1200" spc="-26" strike="noStrike">
                <a:latin typeface="Times New Roman"/>
              </a:rPr>
              <a:t>15 </a:t>
            </a:r>
            <a:r>
              <a:rPr b="0" lang="en-IN" sz="1200" spc="-12" strike="noStrike">
                <a:latin typeface="Times New Roman"/>
              </a:rPr>
              <a:t>middleware.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46368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8"/>
              </a:spcBef>
              <a:buNone/>
              <a:tabLst>
                <a:tab algn="l" pos="463680"/>
              </a:tabLst>
            </a:pP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  <a:tabLst>
                <a:tab algn="l" pos="463680"/>
              </a:tabLst>
            </a:pPr>
            <a:r>
              <a:rPr b="1" lang="en-IN" sz="1200" spc="-1" strike="noStrike">
                <a:latin typeface="Times New Roman"/>
              </a:rPr>
              <a:t>1.</a:t>
            </a:r>
            <a:r>
              <a:rPr b="1" lang="en-IN" sz="1200" spc="24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Language</a:t>
            </a:r>
            <a:r>
              <a:rPr b="1" lang="en-IN" sz="1200" spc="-15" strike="noStrike">
                <a:latin typeface="Times New Roman"/>
              </a:rPr>
              <a:t> </a:t>
            </a:r>
            <a:r>
              <a:rPr b="1" lang="en-IN" sz="1200" spc="-1" strike="noStrike">
                <a:latin typeface="Times New Roman"/>
              </a:rPr>
              <a:t>&amp;</a:t>
            </a:r>
            <a:r>
              <a:rPr b="1" lang="en-IN" sz="1200" spc="18" strike="noStrike">
                <a:latin typeface="Times New Roman"/>
              </a:rPr>
              <a:t> </a:t>
            </a:r>
            <a:r>
              <a:rPr b="1" lang="en-IN" sz="1200" spc="-12" strike="noStrike">
                <a:latin typeface="Times New Roman"/>
              </a:rPr>
              <a:t>Compatibility Evolution</a:t>
            </a:r>
            <a:endParaRPr b="0" lang="en-IN" sz="1200" spc="-1" strike="noStrike">
              <a:latin typeface="Arial"/>
            </a:endParaRPr>
          </a:p>
        </p:txBody>
      </p:sp>
      <p:graphicFrame>
        <p:nvGraphicFramePr>
          <p:cNvPr id="94" name="object 4"/>
          <p:cNvGraphicFramePr/>
          <p:nvPr/>
        </p:nvGraphicFramePr>
        <p:xfrm>
          <a:off x="706320" y="3199680"/>
          <a:ext cx="5548320" cy="762120"/>
        </p:xfrm>
        <a:graphic>
          <a:graphicData uri="http://schemas.openxmlformats.org/drawingml/2006/table">
            <a:tbl>
              <a:tblPr/>
              <a:tblGrid>
                <a:gridCol w="1213200"/>
                <a:gridCol w="1013400"/>
                <a:gridCol w="797400"/>
                <a:gridCol w="1045800"/>
                <a:gridCol w="1478520"/>
              </a:tblGrid>
              <a:tr h="187920">
                <a:tc>
                  <a:txBody>
                    <a:bodyPr lIns="0" rIns="0" tIns="0" bIns="0" anchor="t">
                      <a:noAutofit/>
                    </a:bodyPr>
                    <a:p>
                      <a:pPr marL="470520">
                        <a:lnSpc>
                          <a:spcPts val="1310"/>
                        </a:lnSpc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Feature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45160">
                        <a:lnSpc>
                          <a:spcPts val="1310"/>
                        </a:lnSpc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r>
                        <a:rPr b="1" lang="en-IN" sz="1200" spc="-7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5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7360">
                        <a:lnSpc>
                          <a:spcPts val="1310"/>
                        </a:lnSpc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r>
                        <a:rPr b="1" lang="en-IN" sz="1200" spc="-7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5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193680">
                        <a:lnSpc>
                          <a:spcPts val="1310"/>
                        </a:lnSpc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r>
                        <a:rPr b="1" lang="en-IN" sz="1200" spc="-7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5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699840">
                        <a:lnSpc>
                          <a:spcPts val="1310"/>
                        </a:lnSpc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CakePHP</a:t>
                      </a:r>
                      <a:r>
                        <a:rPr b="1" lang="en-IN" sz="1200" spc="-7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5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9880">
                <a:tc>
                  <a:txBody>
                    <a:bodyPr lIns="0" rIns="0" tIns="540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45"/>
                        </a:spcBef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Namespaces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238680">
                        <a:lnSpc>
                          <a:spcPct val="10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No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21600">
                        <a:lnSpc>
                          <a:spcPct val="10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-3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23040">
                        <a:lnSpc>
                          <a:spcPct val="10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-3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105480">
                        <a:lnSpc>
                          <a:spcPct val="10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-3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Yes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9560">
                <a:tc>
                  <a:txBody>
                    <a:bodyPr lIns="0" rIns="0" tIns="93960" bIns="0" anchor="t">
                      <a:noAutofit/>
                    </a:bodyPr>
                    <a:p>
                      <a:pPr marL="31680">
                        <a:lnSpc>
                          <a:spcPct val="100000"/>
                        </a:lnSpc>
                        <a:spcBef>
                          <a:spcPts val="740"/>
                        </a:spcBef>
                        <a:buNone/>
                      </a:pPr>
                      <a:r>
                        <a:rPr b="1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Strict</a:t>
                      </a:r>
                      <a:r>
                        <a:rPr b="1" lang="en-IN" sz="1200" spc="-6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Typing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0720" bIns="0" anchor="t">
                      <a:noAutofit/>
                    </a:bodyPr>
                    <a:p>
                      <a:pPr marL="238680">
                        <a:lnSpc>
                          <a:spcPct val="100000"/>
                        </a:lnSpc>
                        <a:spcBef>
                          <a:spcPts val="714"/>
                        </a:spcBef>
                        <a:buNone/>
                      </a:pPr>
                      <a:r>
                        <a:rPr b="0" lang="en-IN" sz="1200" spc="-33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0720" bIns="0" anchor="t">
                      <a:noAutofit/>
                    </a:bodyPr>
                    <a:p>
                      <a:pPr marL="21600">
                        <a:lnSpc>
                          <a:spcPct val="100000"/>
                        </a:lnSpc>
                        <a:spcBef>
                          <a:spcPts val="714"/>
                        </a:spcBef>
                        <a:buNone/>
                      </a:pP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Partial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3040">
                        <a:lnSpc>
                          <a:spcPts val="1389"/>
                        </a:lnSpc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Strongly encouraged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90720" bIns="0" anchor="t">
                      <a:noAutofit/>
                    </a:bodyPr>
                    <a:p>
                      <a:pPr marL="105480">
                        <a:lnSpc>
                          <a:spcPct val="100000"/>
                        </a:lnSpc>
                        <a:spcBef>
                          <a:spcPts val="714"/>
                        </a:spcBef>
                        <a:buNone/>
                      </a:pPr>
                      <a:r>
                        <a:rPr b="0" lang="en-IN" sz="1200" spc="-28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◻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Enforced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5" name="object 6"/>
          <p:cNvGraphicFramePr/>
          <p:nvPr/>
        </p:nvGraphicFramePr>
        <p:xfrm>
          <a:off x="716760" y="4686120"/>
          <a:ext cx="6116040" cy="985320"/>
        </p:xfrm>
        <a:graphic>
          <a:graphicData uri="http://schemas.openxmlformats.org/drawingml/2006/table">
            <a:tbl>
              <a:tblPr/>
              <a:tblGrid>
                <a:gridCol w="3057840"/>
                <a:gridCol w="3058200"/>
              </a:tblGrid>
              <a:tr h="252720">
                <a:tc>
                  <a:txBody>
                    <a:bodyPr lIns="0" rIns="0" tIns="27000" bIns="0" anchor="t">
                      <a:noAutofit/>
                    </a:bodyPr>
                    <a:p>
                      <a:pPr marL="1440" algn="ctr">
                        <a:lnSpc>
                          <a:spcPct val="100000"/>
                        </a:lnSpc>
                        <a:spcBef>
                          <a:spcPts val="215"/>
                        </a:spcBef>
                        <a:buNone/>
                      </a:pPr>
                      <a:r>
                        <a:rPr b="1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Conversion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2700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  <a:buNone/>
                      </a:pPr>
                      <a:r>
                        <a:rPr b="1" lang="en-IN" sz="1200" spc="-2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43000">
                <a:tc>
                  <a:txBody>
                    <a:bodyPr lIns="0" rIns="0" tIns="15120" bIns="0" anchor="t">
                      <a:noAutofit/>
                    </a:bodyPr>
                    <a:p>
                      <a:pPr marL="36360">
                        <a:lnSpc>
                          <a:spcPct val="100000"/>
                        </a:lnSpc>
                        <a:spcBef>
                          <a:spcPts val="119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Cake2</a:t>
                      </a:r>
                      <a:r>
                        <a:rPr b="0" lang="en-IN" sz="1200" spc="-15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</a:t>
                      </a:r>
                      <a:r>
                        <a:rPr b="0" lang="en-IN" sz="1200" spc="9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26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3.8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5120" bIns="0" anchor="t">
                      <a:noAutofit/>
                    </a:bodyPr>
                    <a:p>
                      <a:pPr marL="36360">
                        <a:lnSpc>
                          <a:spcPct val="100000"/>
                        </a:lnSpc>
                        <a:spcBef>
                          <a:spcPts val="119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months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43000">
                <a:tc>
                  <a:txBody>
                    <a:bodyPr lIns="0" rIns="0" tIns="15120" bIns="0" anchor="t">
                      <a:noAutofit/>
                    </a:bodyPr>
                    <a:p>
                      <a:pPr marL="36360">
                        <a:lnSpc>
                          <a:spcPct val="100000"/>
                        </a:lnSpc>
                        <a:spcBef>
                          <a:spcPts val="119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3.8</a:t>
                      </a:r>
                      <a:r>
                        <a:rPr b="0" lang="en-IN" sz="1200" spc="-2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</a:t>
                      </a:r>
                      <a:r>
                        <a:rPr b="0" lang="en-IN" sz="1200" spc="18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60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5120" bIns="0" anchor="t">
                      <a:noAutofit/>
                    </a:bodyPr>
                    <a:p>
                      <a:pPr marL="36360">
                        <a:lnSpc>
                          <a:spcPct val="100000"/>
                        </a:lnSpc>
                        <a:spcBef>
                          <a:spcPts val="119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months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46600">
                <a:tc>
                  <a:txBody>
                    <a:bodyPr lIns="0" rIns="0" tIns="17640" bIns="0" anchor="t">
                      <a:noAutofit/>
                    </a:bodyPr>
                    <a:p>
                      <a:pPr marL="36360">
                        <a:lnSpc>
                          <a:spcPct val="100000"/>
                        </a:lnSpc>
                        <a:spcBef>
                          <a:spcPts val="139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Cake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r>
                        <a:rPr b="0" lang="en-IN" sz="1200" spc="-7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to</a:t>
                      </a:r>
                      <a:r>
                        <a:rPr b="0" lang="en-IN" sz="1200" spc="-7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b="0" lang="en-IN" sz="1200" spc="-5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17640" bIns="0" anchor="t">
                      <a:noAutofit/>
                    </a:bodyPr>
                    <a:p>
                      <a:pPr marL="36360">
                        <a:lnSpc>
                          <a:spcPct val="100000"/>
                        </a:lnSpc>
                        <a:spcBef>
                          <a:spcPts val="139"/>
                        </a:spcBef>
                        <a:buNone/>
                      </a:pPr>
                      <a:r>
                        <a:rPr b="0" lang="en-IN" sz="12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r>
                        <a:rPr b="0" lang="en-IN" sz="1200" spc="-12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months</a:t>
                      </a:r>
                      <a:endParaRPr b="0" lang="en-IN" sz="1200" spc="-1" strike="noStrike"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6" name="object 7"/>
          <p:cNvSpPr/>
          <p:nvPr/>
        </p:nvSpPr>
        <p:spPr>
          <a:xfrm>
            <a:off x="707040" y="5825880"/>
            <a:ext cx="588168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IN" sz="1200" spc="-1" strike="noStrike">
                <a:latin typeface="Times New Roman"/>
              </a:rPr>
              <a:t>Creating new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project</a:t>
            </a:r>
            <a:r>
              <a:rPr b="0" lang="en-IN" sz="1200" spc="24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in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cake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5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from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scratch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will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take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around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6</a:t>
            </a:r>
            <a:r>
              <a:rPr b="0" lang="en-IN" sz="1200" spc="-41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months.</a:t>
            </a:r>
            <a:endParaRPr b="0" lang="en-IN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  <a:buNone/>
            </a:pPr>
            <a:endParaRPr b="0" lang="en-IN" sz="1200" spc="-1" strike="noStrike">
              <a:latin typeface="Arial"/>
            </a:endParaRPr>
          </a:p>
          <a:p>
            <a:pPr marL="12600">
              <a:lnSpc>
                <a:spcPts val="1389"/>
              </a:lnSpc>
              <a:buNone/>
            </a:pPr>
            <a:r>
              <a:rPr b="0" lang="en-IN" sz="1200" spc="-1" strike="noStrike">
                <a:latin typeface="Times New Roman"/>
              </a:rPr>
              <a:t>But </a:t>
            </a:r>
            <a:r>
              <a:rPr b="0" lang="en-IN" sz="1200" spc="-12" strike="noStrike">
                <a:latin typeface="Times New Roman"/>
              </a:rPr>
              <a:t>since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we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already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started</a:t>
            </a:r>
            <a:r>
              <a:rPr b="0" lang="en-IN" sz="1200" spc="-1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converting from</a:t>
            </a:r>
            <a:r>
              <a:rPr b="0" lang="en-IN" sz="1200" spc="-6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2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to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3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and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also</a:t>
            </a:r>
            <a:r>
              <a:rPr b="0" lang="en-IN" sz="1200" spc="-7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progressed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to some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extent with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21" strike="noStrike">
                <a:latin typeface="Times New Roman"/>
              </a:rPr>
              <a:t>this </a:t>
            </a:r>
            <a:r>
              <a:rPr b="0" lang="en-IN" sz="1200" spc="-1" strike="noStrike">
                <a:latin typeface="Times New Roman"/>
              </a:rPr>
              <a:t>approach,</a:t>
            </a:r>
            <a:r>
              <a:rPr b="0" lang="en-IN" sz="1200" spc="-15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so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it will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be</a:t>
            </a:r>
            <a:r>
              <a:rPr b="0" lang="en-IN" sz="1200" spc="-2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better</a:t>
            </a:r>
            <a:r>
              <a:rPr b="0" lang="en-IN" sz="1200" spc="-21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if</a:t>
            </a:r>
            <a:r>
              <a:rPr b="0" lang="en-IN" sz="1200" spc="-60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we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continue</a:t>
            </a:r>
            <a:r>
              <a:rPr b="0" lang="en-IN" sz="1200" spc="-32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with</a:t>
            </a:r>
            <a:r>
              <a:rPr b="0" lang="en-IN" sz="1200" spc="-46" strike="noStrike">
                <a:latin typeface="Times New Roman"/>
              </a:rPr>
              <a:t> </a:t>
            </a:r>
            <a:r>
              <a:rPr b="0" lang="en-IN" sz="1200" spc="-1" strike="noStrike">
                <a:latin typeface="Times New Roman"/>
              </a:rPr>
              <a:t>this</a:t>
            </a:r>
            <a:r>
              <a:rPr b="0" lang="en-IN" sz="1200" spc="-35" strike="noStrike">
                <a:latin typeface="Times New Roman"/>
              </a:rPr>
              <a:t> </a:t>
            </a:r>
            <a:r>
              <a:rPr b="0" lang="en-IN" sz="1200" spc="-12" strike="noStrike">
                <a:latin typeface="Times New Roman"/>
              </a:rPr>
              <a:t>process.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2025-10-14T12:29:14Z</dcterms:created>
  <dc:creator/>
  <dc:description/>
  <dc:language>en-IN</dc:language>
  <cp:lastModifiedBy/>
  <dcterms:modified xsi:type="dcterms:W3CDTF">2025-10-14T18:00:54Z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2025-10-14T00:00:00Z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www.ilovepdf.com</vt:lpwstr>
  </property>
</Properties>
</file>